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3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Title slide. Project: SentimentScope - Sentiment Analysis Dashboard for Social Media.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Introduce the concept of sentiment analysis and its importance in today's data-driven world.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the problem this project solves.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State the clear objectives of the project.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the technology choices and why each was selected.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through the architecture step by step showing how the components interact.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Demonstrate each feature of the application.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Describe the dataset used in the project including its structure and distribution.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 the key findings and results from the sentiment analysis.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Summarize the project and discuss what can be improved in the future.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Title"/>
          <p:cNvSpPr txBox="1"/>
          <p:nvPr/>
        </p:nvSpPr>
        <p:spPr>
          <a:xfrm>
            <a:off x="876000" y="2358000"/>
            <a:ext cx="10440000" cy="1260000"/>
          </a:xfrm>
          <a:prstGeom prst="rect">
            <a:avLst/>
          </a:prstGeom>
        </p:spPr>
        <p:txBody>
          <a:bodyPr/>
          <a:lstStyle/>
          <a:p>
            <a:r>
              <a:rPr lang="en-US" sz="3400" b="1" dirty="0">
                <a:solidFill>
                  <a:srgbClr val="FFFFFF"/>
                </a:solidFill>
                <a:latin typeface="Calibri"/>
                <a:ea typeface="Calibri"/>
              </a:rPr>
              <a:t>Sentiment </a:t>
            </a:r>
            <a:r>
              <a:rPr lang="en-US" sz="3400" b="1" dirty="0" err="1">
                <a:solidFill>
                  <a:srgbClr val="FFFFFF"/>
                </a:solidFill>
                <a:latin typeface="Calibri"/>
                <a:ea typeface="Calibri"/>
              </a:rPr>
              <a:t>Anaysis</a:t>
            </a:r>
            <a:r>
              <a:rPr lang="en-US" sz="3400" b="1" dirty="0">
                <a:solidFill>
                  <a:srgbClr val="FFFFFF"/>
                </a:solidFill>
                <a:latin typeface="Calibri"/>
                <a:ea typeface="Calibri"/>
              </a:rPr>
              <a:t> Dashboard for Social Media Platforms</a:t>
            </a:r>
          </a:p>
        </p:txBody>
      </p:sp>
      <p:sp>
        <p:nvSpPr>
          <p:cNvPr id="100002" name="Meta"/>
          <p:cNvSpPr txBox="1"/>
          <p:nvPr/>
        </p:nvSpPr>
        <p:spPr>
          <a:xfrm>
            <a:off x="4387432" y="4608155"/>
            <a:ext cx="10440000" cy="432000"/>
          </a:xfrm>
          <a:prstGeom prst="rect">
            <a:avLst/>
          </a:prstGeom>
        </p:spPr>
        <p:txBody>
          <a:bodyPr/>
          <a:lstStyle/>
          <a:p>
            <a:r>
              <a:rPr lang="en-US" sz="1400" dirty="0">
                <a:solidFill>
                  <a:srgbClr val="6C63FF"/>
                </a:solidFill>
                <a:latin typeface="Calibri"/>
                <a:ea typeface="Calibri"/>
              </a:rPr>
              <a:t>Python  ·  Flask  ·  VADER NLP  ·  Chart.js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3" name="Title"/>
          <p:cNvSpPr txBox="1"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A1A2E"/>
          </a:solidFill>
        </p:spPr>
        <p:txBody>
          <a:bodyPr/>
          <a:lstStyle/>
          <a:p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Introduction</a:t>
            </a:r>
          </a:p>
        </p:txBody>
      </p:sp>
      <p:sp>
        <p:nvSpPr>
          <p:cNvPr id="100004" name="Body"/>
          <p:cNvSpPr txBox="1"/>
          <p:nvPr/>
        </p:nvSpPr>
        <p:spPr>
          <a:xfrm>
            <a:off x="540000" y="1152000"/>
            <a:ext cx="10800000" cy="5040000"/>
          </a:xfrm>
          <a:prstGeom prst="rect">
            <a:avLst/>
          </a:prstGeom>
        </p:spPr>
        <p:txBody>
          <a:bodyPr/>
          <a:lstStyle/>
          <a:p>
            <a:r>
              <a:rPr lang="en-US" sz="1700">
                <a:solidFill>
                  <a:srgbClr val="222222"/>
                </a:solidFill>
                <a:latin typeface="Calibri"/>
                <a:ea typeface="Calibri"/>
              </a:rPr>
              <a:t>What is Sentiment Analysis?</a:t>
            </a:r>
          </a:p>
          <a:p>
            <a:endParaRPr lang="en-US" sz="17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700">
                <a:solidFill>
                  <a:srgbClr val="222222"/>
                </a:solidFill>
                <a:latin typeface="Calibri"/>
                <a:ea typeface="Calibri"/>
              </a:rPr>
              <a:t>Sentiment Analysis uses NLP (Natural Language Processing) to automatically detect whether a piece of text expresses a Positive, Neutral, or Negative emotion.</a:t>
            </a:r>
          </a:p>
          <a:p>
            <a:endParaRPr lang="en-US" sz="17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700">
                <a:solidFill>
                  <a:srgbClr val="222222"/>
                </a:solidFill>
                <a:latin typeface="Calibri"/>
                <a:ea typeface="Calibri"/>
              </a:rPr>
              <a:t>Why Does It Matter?</a:t>
            </a:r>
          </a:p>
          <a:p>
            <a:endParaRPr lang="en-US" sz="17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700">
                <a:solidFill>
                  <a:srgbClr val="222222"/>
                </a:solidFill>
                <a:latin typeface="Calibri"/>
                <a:ea typeface="Calibri"/>
              </a:rPr>
              <a:t>• Millions of posts are published on social media every single day</a:t>
            </a:r>
          </a:p>
          <a:p>
            <a:r>
              <a:rPr lang="en-US" sz="1700">
                <a:solidFill>
                  <a:srgbClr val="222222"/>
                </a:solidFill>
                <a:latin typeface="Calibri"/>
                <a:ea typeface="Calibri"/>
              </a:rPr>
              <a:t>• Manually reading all of them is impossible</a:t>
            </a:r>
          </a:p>
          <a:p>
            <a:r>
              <a:rPr lang="en-US" sz="1700">
                <a:solidFill>
                  <a:srgbClr val="222222"/>
                </a:solidFill>
                <a:latin typeface="Calibri"/>
                <a:ea typeface="Calibri"/>
              </a:rPr>
              <a:t>• Businesses and researchers need automated tools to understand public opinion</a:t>
            </a:r>
          </a:p>
          <a:p>
            <a:r>
              <a:rPr lang="en-US" sz="1700">
                <a:solidFill>
                  <a:srgbClr val="222222"/>
                </a:solidFill>
                <a:latin typeface="Calibri"/>
                <a:ea typeface="Calibri"/>
              </a:rPr>
              <a:t>• Sentiment analysis provides instant insights from large volumes of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5" name="Title"/>
          <p:cNvSpPr txBox="1"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A1A2E"/>
          </a:solidFill>
        </p:spPr>
        <p:txBody>
          <a:bodyPr/>
          <a:lstStyle/>
          <a:p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Problem Statement</a:t>
            </a:r>
          </a:p>
        </p:txBody>
      </p:sp>
      <p:sp>
        <p:nvSpPr>
          <p:cNvPr id="100006" name="Body"/>
          <p:cNvSpPr txBox="1"/>
          <p:nvPr/>
        </p:nvSpPr>
        <p:spPr>
          <a:xfrm>
            <a:off x="540000" y="1152000"/>
            <a:ext cx="10800000" cy="5040000"/>
          </a:xfrm>
          <a:prstGeom prst="rect">
            <a:avLst/>
          </a:prstGeom>
        </p:spPr>
        <p:txBody>
          <a:bodyPr/>
          <a:lstStyle/>
          <a:p>
            <a:r>
              <a:rPr lang="en-US" sz="1700">
                <a:solidFill>
                  <a:srgbClr val="222222"/>
                </a:solidFill>
                <a:latin typeface="Calibri"/>
                <a:ea typeface="Calibri"/>
              </a:rPr>
              <a:t>The Challenge We Are Solving:</a:t>
            </a:r>
          </a:p>
          <a:p>
            <a:endParaRPr lang="en-US" sz="17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700">
                <a:solidFill>
                  <a:srgbClr val="222222"/>
                </a:solidFill>
                <a:latin typeface="Calibri"/>
                <a:ea typeface="Calibri"/>
              </a:rPr>
              <a:t>• Social media generates millions of posts daily across Twitter, Reddit, Instagram, Facebook and YouTube</a:t>
            </a:r>
          </a:p>
          <a:p>
            <a:endParaRPr lang="en-US" sz="17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700">
                <a:solidFill>
                  <a:srgbClr val="222222"/>
                </a:solidFill>
                <a:latin typeface="Calibri"/>
                <a:ea typeface="Calibri"/>
              </a:rPr>
              <a:t>• There is no simple free tool that analyzes posts from multiple platforms together in one place</a:t>
            </a:r>
          </a:p>
          <a:p>
            <a:endParaRPr lang="en-US" sz="17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700">
                <a:solidFill>
                  <a:srgbClr val="222222"/>
                </a:solidFill>
                <a:latin typeface="Calibri"/>
                <a:ea typeface="Calibri"/>
              </a:rPr>
              <a:t>• Reading and manually classifying thousands of posts is time-consuming and error-prone</a:t>
            </a:r>
          </a:p>
          <a:p>
            <a:endParaRPr lang="en-US" sz="17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700">
                <a:solidFill>
                  <a:srgbClr val="222222"/>
                </a:solidFill>
                <a:latin typeface="Calibri"/>
                <a:ea typeface="Calibri"/>
              </a:rPr>
              <a:t>• Businesses and researchers need a fast, automated and visual way to understand public sentiment at scale</a:t>
            </a:r>
          </a:p>
          <a:p>
            <a:endParaRPr lang="en-US" sz="17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700">
                <a:solidFill>
                  <a:srgbClr val="222222"/>
                </a:solidFill>
                <a:latin typeface="Calibri"/>
                <a:ea typeface="Calibri"/>
              </a:rPr>
              <a:t>• Existing tools are either too expensive or require technical expertise to 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7" name="Title"/>
          <p:cNvSpPr txBox="1"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A1A2E"/>
          </a:solidFill>
        </p:spPr>
        <p:txBody>
          <a:bodyPr/>
          <a:lstStyle/>
          <a:p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Objective</a:t>
            </a:r>
          </a:p>
        </p:txBody>
      </p:sp>
      <p:sp>
        <p:nvSpPr>
          <p:cNvPr id="100008" name="Body"/>
          <p:cNvSpPr txBox="1"/>
          <p:nvPr/>
        </p:nvSpPr>
        <p:spPr>
          <a:xfrm>
            <a:off x="540000" y="1152000"/>
            <a:ext cx="10800000" cy="5040000"/>
          </a:xfrm>
          <a:prstGeom prst="rect">
            <a:avLst/>
          </a:prstGeom>
        </p:spPr>
        <p:txBody>
          <a:bodyPr/>
          <a:lstStyle/>
          <a:p>
            <a:r>
              <a:rPr lang="en-US" sz="1700">
                <a:solidFill>
                  <a:srgbClr val="222222"/>
                </a:solidFill>
                <a:latin typeface="Calibri"/>
                <a:ea typeface="Calibri"/>
              </a:rPr>
              <a:t>Goals of This Project:</a:t>
            </a:r>
          </a:p>
          <a:p>
            <a:endParaRPr lang="en-US" sz="17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700">
                <a:solidFill>
                  <a:srgbClr val="222222"/>
                </a:solidFill>
                <a:latin typeface="Calibri"/>
                <a:ea typeface="Calibri"/>
              </a:rPr>
              <a:t>• Build a full-stack web application for social media sentiment analysis</a:t>
            </a:r>
          </a:p>
          <a:p>
            <a:endParaRPr lang="en-US" sz="17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700">
                <a:solidFill>
                  <a:srgbClr val="222222"/>
                </a:solidFill>
                <a:latin typeface="Calibri"/>
                <a:ea typeface="Calibri"/>
              </a:rPr>
              <a:t>• Automatically classify posts as Positive, Neutral or Negative using VADER NLP</a:t>
            </a:r>
          </a:p>
          <a:p>
            <a:endParaRPr lang="en-US" sz="17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700">
                <a:solidFill>
                  <a:srgbClr val="222222"/>
                </a:solidFill>
                <a:latin typeface="Calibri"/>
                <a:ea typeface="Calibri"/>
              </a:rPr>
              <a:t>• Display results visually through an interactive dashboard with charts and KPI cards</a:t>
            </a:r>
          </a:p>
          <a:p>
            <a:endParaRPr lang="en-US" sz="17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700">
                <a:solidFill>
                  <a:srgbClr val="222222"/>
                </a:solidFill>
                <a:latin typeface="Calibri"/>
                <a:ea typeface="Calibri"/>
              </a:rPr>
              <a:t>• Allow users to analyze their own custom text or upload their own CSV dataset</a:t>
            </a:r>
          </a:p>
          <a:p>
            <a:endParaRPr lang="en-US" sz="17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700">
                <a:solidFill>
                  <a:srgbClr val="222222"/>
                </a:solidFill>
                <a:latin typeface="Calibri"/>
                <a:ea typeface="Calibri"/>
              </a:rPr>
              <a:t>• Support multiple platforms: Twitter, Reddit, Instagram, Facebook and YouTube</a:t>
            </a:r>
          </a:p>
          <a:p>
            <a:endParaRPr lang="en-US" sz="17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700">
                <a:solidFill>
                  <a:srgbClr val="222222"/>
                </a:solidFill>
                <a:latin typeface="Calibri"/>
                <a:ea typeface="Calibri"/>
              </a:rPr>
              <a:t>• Make the entire project free, open source and available on 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9" name="Title"/>
          <p:cNvSpPr txBox="1"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A1A2E"/>
          </a:solidFill>
        </p:spPr>
        <p:txBody>
          <a:bodyPr/>
          <a:lstStyle/>
          <a:p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Tech Stack</a:t>
            </a:r>
          </a:p>
        </p:txBody>
      </p:sp>
      <p:sp>
        <p:nvSpPr>
          <p:cNvPr id="100010" name="Left"/>
          <p:cNvSpPr txBox="1"/>
          <p:nvPr/>
        </p:nvSpPr>
        <p:spPr>
          <a:xfrm>
            <a:off x="540000" y="1152000"/>
            <a:ext cx="5220000" cy="4680000"/>
          </a:xfrm>
          <a:prstGeom prst="rect">
            <a:avLst/>
          </a:prstGeom>
          <a:solidFill>
            <a:srgbClr val="EEF2FF"/>
          </a:solidFill>
        </p:spPr>
        <p:txBody>
          <a:bodyPr/>
          <a:lstStyle/>
          <a:p>
            <a:r>
              <a:rPr lang="en-US" sz="1700" b="0">
                <a:solidFill>
                  <a:srgbClr val="1A1A2E"/>
                </a:solidFill>
                <a:latin typeface="Calibri"/>
                <a:ea typeface="Calibri"/>
              </a:rPr>
              <a:t>Backend</a:t>
            </a:r>
          </a:p>
          <a:p>
            <a:endParaRPr lang="en-US" sz="1700" b="0">
              <a:solidFill>
                <a:srgbClr val="1A1A2E"/>
              </a:solidFill>
              <a:latin typeface="Calibri"/>
              <a:ea typeface="Calibri"/>
            </a:endParaRPr>
          </a:p>
          <a:p>
            <a:r>
              <a:rPr lang="en-US" sz="1700" b="0">
                <a:solidFill>
                  <a:srgbClr val="1A1A2E"/>
                </a:solidFill>
                <a:latin typeface="Calibri"/>
                <a:ea typeface="Calibri"/>
              </a:rPr>
              <a:t>► Python 3.11</a:t>
            </a:r>
          </a:p>
          <a:p>
            <a:r>
              <a:rPr lang="en-US" sz="1700" b="0">
                <a:solidFill>
                  <a:srgbClr val="1A1A2E"/>
                </a:solidFill>
                <a:latin typeface="Calibri"/>
                <a:ea typeface="Calibri"/>
              </a:rPr>
              <a:t>► Flask 3.0 (Web Framework)</a:t>
            </a:r>
          </a:p>
          <a:p>
            <a:r>
              <a:rPr lang="en-US" sz="1700" b="0">
                <a:solidFill>
                  <a:srgbClr val="1A1A2E"/>
                </a:solidFill>
                <a:latin typeface="Calibri"/>
                <a:ea typeface="Calibri"/>
              </a:rPr>
              <a:t>► VADER Sentiment (NLP)</a:t>
            </a:r>
          </a:p>
          <a:p>
            <a:r>
              <a:rPr lang="en-US" sz="1700" b="0">
                <a:solidFill>
                  <a:srgbClr val="1A1A2E"/>
                </a:solidFill>
                <a:latin typeface="Calibri"/>
                <a:ea typeface="Calibri"/>
              </a:rPr>
              <a:t>► TextBlob</a:t>
            </a:r>
          </a:p>
          <a:p>
            <a:r>
              <a:rPr lang="en-US" sz="1700" b="0">
                <a:solidFill>
                  <a:srgbClr val="1A1A2E"/>
                </a:solidFill>
                <a:latin typeface="Calibri"/>
                <a:ea typeface="Calibri"/>
              </a:rPr>
              <a:t>► Pandas (Data Processing)</a:t>
            </a:r>
          </a:p>
        </p:txBody>
      </p:sp>
      <p:sp>
        <p:nvSpPr>
          <p:cNvPr id="100011" name="Right"/>
          <p:cNvSpPr txBox="1"/>
          <p:nvPr/>
        </p:nvSpPr>
        <p:spPr>
          <a:xfrm>
            <a:off x="6300000" y="1152000"/>
            <a:ext cx="5220000" cy="4680000"/>
          </a:xfrm>
          <a:prstGeom prst="rect">
            <a:avLst/>
          </a:prstGeom>
          <a:solidFill>
            <a:srgbClr val="F0FFF4"/>
          </a:solidFill>
        </p:spPr>
        <p:txBody>
          <a:bodyPr/>
          <a:lstStyle/>
          <a:p>
            <a:r>
              <a:rPr lang="en-US" sz="1700" b="0">
                <a:solidFill>
                  <a:srgbClr val="1A1A2E"/>
                </a:solidFill>
                <a:latin typeface="Calibri"/>
                <a:ea typeface="Calibri"/>
              </a:rPr>
              <a:t>Frontend</a:t>
            </a:r>
          </a:p>
          <a:p>
            <a:endParaRPr lang="en-US" sz="1700" b="0">
              <a:solidFill>
                <a:srgbClr val="1A1A2E"/>
              </a:solidFill>
              <a:latin typeface="Calibri"/>
              <a:ea typeface="Calibri"/>
            </a:endParaRPr>
          </a:p>
          <a:p>
            <a:r>
              <a:rPr lang="en-US" sz="1700" b="0">
                <a:solidFill>
                  <a:srgbClr val="1A1A2E"/>
                </a:solidFill>
                <a:latin typeface="Calibri"/>
                <a:ea typeface="Calibri"/>
              </a:rPr>
              <a:t>► HTML5</a:t>
            </a:r>
          </a:p>
          <a:p>
            <a:r>
              <a:rPr lang="en-US" sz="1700" b="0">
                <a:solidFill>
                  <a:srgbClr val="1A1A2E"/>
                </a:solidFill>
                <a:latin typeface="Calibri"/>
                <a:ea typeface="Calibri"/>
              </a:rPr>
              <a:t>► CSS3 (Dark/Light Mode)</a:t>
            </a:r>
          </a:p>
          <a:p>
            <a:r>
              <a:rPr lang="en-US" sz="1700" b="0">
                <a:solidFill>
                  <a:srgbClr val="1A1A2E"/>
                </a:solidFill>
                <a:latin typeface="Calibri"/>
                <a:ea typeface="Calibri"/>
              </a:rPr>
              <a:t>► Vanilla JavaScript</a:t>
            </a:r>
          </a:p>
          <a:p>
            <a:r>
              <a:rPr lang="en-US" sz="1700" b="0">
                <a:solidFill>
                  <a:srgbClr val="1A1A2E"/>
                </a:solidFill>
                <a:latin typeface="Calibri"/>
                <a:ea typeface="Calibri"/>
              </a:rPr>
              <a:t>► Chart.js 4 (Charts)</a:t>
            </a:r>
          </a:p>
          <a:p>
            <a:r>
              <a:rPr lang="en-US" sz="1700" b="0">
                <a:solidFill>
                  <a:srgbClr val="1A1A2E"/>
                </a:solidFill>
                <a:latin typeface="Calibri"/>
                <a:ea typeface="Calibri"/>
              </a:rPr>
              <a:t>► Inter Font (Google Fonts)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2" name="Title"/>
          <p:cNvSpPr txBox="1"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A1A2E"/>
          </a:solidFill>
        </p:spPr>
        <p:txBody>
          <a:bodyPr/>
          <a:lstStyle/>
          <a:p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System Architecture</a:t>
            </a:r>
          </a:p>
        </p:txBody>
      </p:sp>
      <p:sp>
        <p:nvSpPr>
          <p:cNvPr id="100013" name="Body"/>
          <p:cNvSpPr txBox="1"/>
          <p:nvPr/>
        </p:nvSpPr>
        <p:spPr>
          <a:xfrm>
            <a:off x="540000" y="1152000"/>
            <a:ext cx="10800000" cy="5040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How the Application Works — Step by Step:</a:t>
            </a:r>
          </a:p>
          <a:p>
            <a:endParaRPr lang="en-US" sz="16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Step 1   User opens http://localhost:5000 in browser</a:t>
            </a: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Step 2   Flask server receives the HTTP request</a:t>
            </a: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Step 3   Flask reads data/sample_posts.csv (1000 posts)</a:t>
            </a: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Step 4   VADER NLP scores each post → Positive / Neutral / Negative</a:t>
            </a: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Step 5   Flask returns JSON response to the browser</a:t>
            </a: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Step 6   JavaScript renders 4 charts + 5 KPI cards + posts table</a:t>
            </a: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Step 7   User filters by platform or keyword → charts update in real time</a:t>
            </a:r>
          </a:p>
          <a:p>
            <a:endParaRPr lang="en-US" sz="16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Data Flow:</a:t>
            </a:r>
          </a:p>
          <a:p>
            <a:endParaRPr lang="en-US" sz="16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Browser  →  Flask API  →  VADER NLP Engine  →  CSV Dataset</a:t>
            </a: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   ↑                                                    ↓</a:t>
            </a: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Charts + Table  ←  JSON Response  ←  Sentiment Scores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4" name="Title"/>
          <p:cNvSpPr txBox="1"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A1A2E"/>
          </a:solidFill>
        </p:spPr>
        <p:txBody>
          <a:bodyPr/>
          <a:lstStyle/>
          <a:p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Key Features</a:t>
            </a:r>
          </a:p>
        </p:txBody>
      </p:sp>
      <p:sp>
        <p:nvSpPr>
          <p:cNvPr id="100015" name="Body"/>
          <p:cNvSpPr txBox="1"/>
          <p:nvPr/>
        </p:nvSpPr>
        <p:spPr>
          <a:xfrm>
            <a:off x="540000" y="1152000"/>
            <a:ext cx="10800000" cy="5040000"/>
          </a:xfrm>
          <a:prstGeom prst="rect">
            <a:avLst/>
          </a:prstGeom>
        </p:spPr>
        <p:txBody>
          <a:bodyPr/>
          <a:lstStyle/>
          <a:p>
            <a:r>
              <a:rPr lang="en-US" sz="1500">
                <a:solidFill>
                  <a:srgbClr val="222222"/>
                </a:solidFill>
                <a:latin typeface="Calibri"/>
                <a:ea typeface="Calibri"/>
              </a:rPr>
              <a:t>Feature 1 — Dashboard</a:t>
            </a:r>
          </a:p>
          <a:p>
            <a:r>
              <a:rPr lang="en-US" sz="1500">
                <a:solidFill>
                  <a:srgbClr val="222222"/>
                </a:solidFill>
                <a:latin typeface="Calibri"/>
                <a:ea typeface="Calibri"/>
              </a:rPr>
              <a:t>   • 5 KPI cards: Total Posts, Positive, Neutral, Negative, Avg Score</a:t>
            </a:r>
          </a:p>
          <a:p>
            <a:r>
              <a:rPr lang="en-US" sz="1500">
                <a:solidFill>
                  <a:srgbClr val="222222"/>
                </a:solidFill>
                <a:latin typeface="Calibri"/>
                <a:ea typeface="Calibri"/>
              </a:rPr>
              <a:t>   • 4 interactive charts: Doughnut, Line (over time), Bar (by platform), Top Posts</a:t>
            </a:r>
          </a:p>
          <a:p>
            <a:r>
              <a:rPr lang="en-US" sz="1500">
                <a:solidFill>
                  <a:srgbClr val="222222"/>
                </a:solidFill>
                <a:latin typeface="Calibri"/>
                <a:ea typeface="Calibri"/>
              </a:rPr>
              <a:t>   • Full posts table with 1000 rows — filter by platform and keyword</a:t>
            </a:r>
          </a:p>
          <a:p>
            <a:endParaRPr lang="en-US" sz="15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500">
                <a:solidFill>
                  <a:srgbClr val="222222"/>
                </a:solidFill>
                <a:latin typeface="Calibri"/>
                <a:ea typeface="Calibri"/>
              </a:rPr>
              <a:t>Feature 2 — Analyze Text</a:t>
            </a:r>
          </a:p>
          <a:p>
            <a:r>
              <a:rPr lang="en-US" sz="1500">
                <a:solidFill>
                  <a:srgbClr val="222222"/>
                </a:solidFill>
                <a:latin typeface="Calibri"/>
                <a:ea typeface="Calibri"/>
              </a:rPr>
              <a:t>   • Paste any sentence or social media comment</a:t>
            </a:r>
          </a:p>
          <a:p>
            <a:r>
              <a:rPr lang="en-US" sz="1500">
                <a:solidFill>
                  <a:srgbClr val="222222"/>
                </a:solidFill>
                <a:latin typeface="Calibri"/>
                <a:ea typeface="Calibri"/>
              </a:rPr>
              <a:t>   • Get instant result: Positive / Neutral / Negative</a:t>
            </a:r>
          </a:p>
          <a:p>
            <a:r>
              <a:rPr lang="en-US" sz="1500">
                <a:solidFill>
                  <a:srgbClr val="222222"/>
                </a:solidFill>
                <a:latin typeface="Calibri"/>
                <a:ea typeface="Calibri"/>
              </a:rPr>
              <a:t>   • Visual score bars + compound score displayed</a:t>
            </a:r>
          </a:p>
          <a:p>
            <a:endParaRPr lang="en-US" sz="15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500">
                <a:solidFill>
                  <a:srgbClr val="222222"/>
                </a:solidFill>
                <a:latin typeface="Calibri"/>
                <a:ea typeface="Calibri"/>
              </a:rPr>
              <a:t>Feature 3 — Upload CSV</a:t>
            </a:r>
          </a:p>
          <a:p>
            <a:r>
              <a:rPr lang="en-US" sz="1500">
                <a:solidFill>
                  <a:srgbClr val="222222"/>
                </a:solidFill>
                <a:latin typeface="Calibri"/>
                <a:ea typeface="Calibri"/>
              </a:rPr>
              <a:t>   • Upload your own dataset with a text column</a:t>
            </a:r>
          </a:p>
          <a:p>
            <a:r>
              <a:rPr lang="en-US" sz="1500">
                <a:solidFill>
                  <a:srgbClr val="222222"/>
                </a:solidFill>
                <a:latin typeface="Calibri"/>
                <a:ea typeface="Calibri"/>
              </a:rPr>
              <a:t>   • Get KPI summary + full analyzed results table instantly</a:t>
            </a:r>
          </a:p>
          <a:p>
            <a:endParaRPr lang="en-US" sz="15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500">
                <a:solidFill>
                  <a:srgbClr val="222222"/>
                </a:solidFill>
                <a:latin typeface="Calibri"/>
                <a:ea typeface="Calibri"/>
              </a:rPr>
              <a:t>Feature 4 — Dark / Light Mode Toggle</a:t>
            </a:r>
          </a:p>
          <a:p>
            <a:r>
              <a:rPr lang="en-US" sz="1500">
                <a:solidFill>
                  <a:srgbClr val="222222"/>
                </a:solidFill>
                <a:latin typeface="Calibri"/>
                <a:ea typeface="Calibri"/>
              </a:rPr>
              <a:t>   • Switch between dark and light theme with one click</a:t>
            </a:r>
          </a:p>
          <a:p>
            <a:r>
              <a:rPr lang="en-US" sz="1500">
                <a:solidFill>
                  <a:srgbClr val="222222"/>
                </a:solidFill>
                <a:latin typeface="Calibri"/>
                <a:ea typeface="Calibri"/>
              </a:rPr>
              <a:t>   • Preference saved automatically in browser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6" name="Title"/>
          <p:cNvSpPr txBox="1"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A1A2E"/>
          </a:solidFill>
        </p:spPr>
        <p:txBody>
          <a:bodyPr/>
          <a:lstStyle/>
          <a:p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Dataset</a:t>
            </a:r>
          </a:p>
        </p:txBody>
      </p:sp>
      <p:sp>
        <p:nvSpPr>
          <p:cNvPr id="100017" name="Body"/>
          <p:cNvSpPr txBox="1"/>
          <p:nvPr/>
        </p:nvSpPr>
        <p:spPr>
          <a:xfrm>
            <a:off x="540000" y="1152000"/>
            <a:ext cx="10800000" cy="5040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Dataset Overview:</a:t>
            </a:r>
          </a:p>
          <a:p>
            <a:endParaRPr lang="en-US" sz="16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   Total Posts    :   1,000</a:t>
            </a: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   File Format    :   CSV</a:t>
            </a: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   File Size         :   141.9 KB</a:t>
            </a: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   Columns         :   id, platform, username, text, timestamp, likes, shares</a:t>
            </a:r>
          </a:p>
          <a:p>
            <a:endParaRPr lang="en-US" sz="16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Platform Distribution (200 posts each):</a:t>
            </a:r>
          </a:p>
          <a:p>
            <a:endParaRPr lang="en-US" sz="16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   Twitter       200 posts     Instagram    200 posts     YouTube   200 posts</a:t>
            </a: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   Reddit         200 posts     Facebook     200 posts</a:t>
            </a:r>
          </a:p>
          <a:p>
            <a:endParaRPr lang="en-US" sz="16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Sentiment Distribution:</a:t>
            </a:r>
          </a:p>
          <a:p>
            <a:endParaRPr lang="en-US" sz="16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   Positive    →   ~450 posts   (45%)</a:t>
            </a: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   Neutral     →   ~300 posts   (30%)</a:t>
            </a: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   Negative   →   ~250 posts   (25%)</a:t>
            </a:r>
          </a:p>
          <a:p>
            <a:endParaRPr lang="en-US" sz="16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Date Range:   January 2024  to  May 2024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8" name="Title"/>
          <p:cNvSpPr txBox="1"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A1A2E"/>
          </a:solidFill>
        </p:spPr>
        <p:txBody>
          <a:bodyPr/>
          <a:lstStyle/>
          <a:p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Results &amp; Findings</a:t>
            </a:r>
          </a:p>
        </p:txBody>
      </p:sp>
      <p:sp>
        <p:nvSpPr>
          <p:cNvPr id="100019" name="Body"/>
          <p:cNvSpPr txBox="1"/>
          <p:nvPr/>
        </p:nvSpPr>
        <p:spPr>
          <a:xfrm>
            <a:off x="540000" y="1152000"/>
            <a:ext cx="10800000" cy="5040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Key Findings from the Analysis:</a:t>
            </a:r>
          </a:p>
          <a:p>
            <a:endParaRPr lang="en-US" sz="16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• VADER accurately classified all 1000 posts into Positive, Neutral and Negative categories</a:t>
            </a:r>
          </a:p>
          <a:p>
            <a:endParaRPr lang="en-US" sz="16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• Compound scores ranged from -1.0 (most negative) to +1.0 (most positive)</a:t>
            </a:r>
          </a:p>
          <a:p>
            <a:endParaRPr lang="en-US" sz="16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• Positive posts received significantly higher likes and engagement than negative ones</a:t>
            </a:r>
          </a:p>
          <a:p>
            <a:endParaRPr lang="en-US" sz="16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• Twitter and Instagram showed higher positive sentiment compared to Reddit</a:t>
            </a:r>
          </a:p>
          <a:p>
            <a:endParaRPr lang="en-US" sz="16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• Negative posts about products and services received more shares showing viral spread of complaints</a:t>
            </a:r>
          </a:p>
          <a:p>
            <a:endParaRPr lang="en-US" sz="16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• The line chart revealed clear sentiment trends across different dates and time periods</a:t>
            </a:r>
          </a:p>
          <a:p>
            <a:endParaRPr lang="en-US" sz="16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• API response time was under 1 second for analyzing all 1000 posts on a local machine</a:t>
            </a:r>
          </a:p>
          <a:p>
            <a:endParaRPr lang="en-US" sz="160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222222"/>
                </a:solidFill>
                <a:latin typeface="Calibri"/>
                <a:ea typeface="Calibri"/>
              </a:rPr>
              <a:t>• The dashboard successfully handled filtering, CSV upload and live text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0" name="Title"/>
          <p:cNvSpPr txBox="1"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A1A2E"/>
          </a:solidFill>
        </p:spPr>
        <p:txBody>
          <a:bodyPr/>
          <a:lstStyle/>
          <a:p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Conclusion &amp; Future Scope</a:t>
            </a:r>
          </a:p>
        </p:txBody>
      </p:sp>
      <p:sp>
        <p:nvSpPr>
          <p:cNvPr id="100021" name="Left"/>
          <p:cNvSpPr txBox="1"/>
          <p:nvPr/>
        </p:nvSpPr>
        <p:spPr>
          <a:xfrm>
            <a:off x="540000" y="1152000"/>
            <a:ext cx="5220000" cy="4680000"/>
          </a:xfrm>
          <a:prstGeom prst="rect">
            <a:avLst/>
          </a:prstGeom>
          <a:solidFill>
            <a:srgbClr val="EEF2FF"/>
          </a:solidFill>
        </p:spPr>
        <p:txBody>
          <a:bodyPr/>
          <a:lstStyle/>
          <a:p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Conclusion</a:t>
            </a:r>
          </a:p>
          <a:p>
            <a:endParaRPr lang="en-US" sz="1600">
              <a:solidFill>
                <a:srgbClr val="1A1A2E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✔ Built a complete full-stack sentiment analysis web app</a:t>
            </a:r>
          </a:p>
          <a:p>
            <a:endParaRPr lang="en-US" sz="1600">
              <a:solidFill>
                <a:srgbClr val="1A1A2E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✔ Analyzed 1000 social media posts across 5 platforms</a:t>
            </a:r>
          </a:p>
          <a:p>
            <a:endParaRPr lang="en-US" sz="1600">
              <a:solidFill>
                <a:srgbClr val="1A1A2E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✔ All features working: Dashboard, Analyze Text, Upload CSV</a:t>
            </a:r>
          </a:p>
          <a:p>
            <a:endParaRPr lang="en-US" sz="1600">
              <a:solidFill>
                <a:srgbClr val="1A1A2E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✔ Entire project built using free and open source tools</a:t>
            </a:r>
          </a:p>
          <a:p>
            <a:endParaRPr lang="en-US" sz="1600">
              <a:solidFill>
                <a:srgbClr val="1A1A2E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✔ Project uploaded to GitHub for public access</a:t>
            </a:r>
          </a:p>
        </p:txBody>
      </p:sp>
      <p:sp>
        <p:nvSpPr>
          <p:cNvPr id="100022" name="Right"/>
          <p:cNvSpPr txBox="1"/>
          <p:nvPr/>
        </p:nvSpPr>
        <p:spPr>
          <a:xfrm>
            <a:off x="6300000" y="1152000"/>
            <a:ext cx="5220000" cy="4680000"/>
          </a:xfrm>
          <a:prstGeom prst="rect">
            <a:avLst/>
          </a:prstGeom>
          <a:solidFill>
            <a:srgbClr val="F0FFF4"/>
          </a:solidFill>
        </p:spPr>
        <p:txBody>
          <a:bodyPr/>
          <a:lstStyle/>
          <a:p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Future Scope</a:t>
            </a:r>
          </a:p>
          <a:p>
            <a:endParaRPr lang="en-US" sz="1600">
              <a:solidFill>
                <a:srgbClr val="1A1A2E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► Connect Reddit and YouTube live APIs</a:t>
            </a:r>
          </a:p>
          <a:p>
            <a:endParaRPr lang="en-US" sz="1600">
              <a:solidFill>
                <a:srgbClr val="1A1A2E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► Use HuggingFace Transformer model for better NLP accuracy</a:t>
            </a:r>
          </a:p>
          <a:p>
            <a:endParaRPr lang="en-US" sz="1600">
              <a:solidFill>
                <a:srgbClr val="1A1A2E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► Add SQLite database to store analysis history</a:t>
            </a:r>
          </a:p>
          <a:p>
            <a:endParaRPr lang="en-US" sz="1600">
              <a:solidFill>
                <a:srgbClr val="1A1A2E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► Add pagination for large datasets</a:t>
            </a:r>
          </a:p>
          <a:p>
            <a:endParaRPr lang="en-US" sz="1600">
              <a:solidFill>
                <a:srgbClr val="1A1A2E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► Deploy online on Render.com</a:t>
            </a:r>
          </a:p>
          <a:p>
            <a:endParaRPr lang="en-US" sz="1600">
              <a:solidFill>
                <a:srgbClr val="1A1A2E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► Add multilingual support (Hindi, Tamil, etc.)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1021</Words>
  <Application>Microsoft Office PowerPoint</Application>
  <PresentationFormat>Widescreen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OfficeCLI</dc:creator>
  <cp:lastModifiedBy>Thejas T</cp:lastModifiedBy>
  <cp:revision>1</cp:revision>
  <dcterms:created xsi:type="dcterms:W3CDTF">2026-10-08T17:32:28Z</dcterms:created>
  <dcterms:modified xsi:type="dcterms:W3CDTF">2026-10-08T17:49:25Z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1.0.155</vt:lpwstr>
  </property>
  <property fmtid="{D5CDD505-2E9C-101B-9397-08002B2CF9AE}" pid="3" name="OfficeCLI.LastModified">
    <vt:lpwstr>2026-10-08T17:46:04Z</vt:lpwstr>
  </property>
</Properties>
</file>